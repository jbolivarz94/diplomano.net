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3E8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2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9E5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/>
          <p:nvPr/>
        </p:nvSpPr>
        <p:spPr>
          <a:xfrm>
            <a:off x="548640" y="656539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E72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A8E72"/>
                </a:solidFill>
                <a:latin typeface="Arial"/>
                <a:ea typeface="Arial"/>
                <a:cs typeface="Arial"/>
                <a:sym typeface="Arial"/>
              </a:rPr>
              <a:t>AGROMARKET LOCAL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961120" y="6565392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E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E72"/>
                </a:solidFill>
                <a:latin typeface="Arial"/>
                <a:ea typeface="Arial"/>
                <a:cs typeface="Arial"/>
                <a:sym typeface="Arial"/>
              </a:rPr>
              <a:t>API + IA · AGOSTO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8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rot="720000">
            <a:off x="7909560" y="-411480"/>
            <a:ext cx="4754880" cy="47548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DDEBD6">
              <a:alpha val="92157"/>
            </a:srgbClr>
          </a:solidFill>
          <a:ln cap="flat" cmpd="sng" w="12700">
            <a:solidFill>
              <a:srgbClr val="DDEB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 rot="720000">
            <a:off x="8641080" y="1234440"/>
            <a:ext cx="3566160" cy="356616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2D79A">
              <a:alpha val="90196"/>
            </a:srgbClr>
          </a:solidFill>
          <a:ln cap="flat" cmpd="sng" w="12700">
            <a:solidFill>
              <a:srgbClr val="F2D79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 rot="1500000">
            <a:off x="9326880" y="2057400"/>
            <a:ext cx="1106424" cy="724205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4F8A5B"/>
          </a:solidFill>
          <a:ln cap="flat" cmpd="sng" w="12700">
            <a:solidFill>
              <a:srgbClr val="4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 flipH="1" rot="10800000">
            <a:off x="9568282" y="2178101"/>
            <a:ext cx="965606" cy="502920"/>
          </a:xfrm>
          <a:prstGeom prst="straightConnector1">
            <a:avLst/>
          </a:prstGeom>
          <a:noFill/>
          <a:ln cap="flat" cmpd="sng" w="16500">
            <a:solidFill>
              <a:srgbClr val="2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/>
          <p:nvPr/>
        </p:nvSpPr>
        <p:spPr>
          <a:xfrm rot="1500000">
            <a:off x="10241280" y="2880360"/>
            <a:ext cx="754380" cy="493776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D97855"/>
          </a:solidFill>
          <a:ln cap="flat" cmpd="sng" w="12700">
            <a:solidFill>
              <a:srgbClr val="D97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" name="Google Shape;25;p4"/>
          <p:cNvCxnSpPr/>
          <p:nvPr/>
        </p:nvCxnSpPr>
        <p:spPr>
          <a:xfrm flipH="1" rot="10800000">
            <a:off x="10405872" y="2962656"/>
            <a:ext cx="658368" cy="342900"/>
          </a:xfrm>
          <a:prstGeom prst="straightConnector1">
            <a:avLst/>
          </a:prstGeom>
          <a:noFill/>
          <a:ln cap="flat" cmpd="sng" w="16500">
            <a:solidFill>
              <a:srgbClr val="2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4"/>
          <p:cNvSpPr/>
          <p:nvPr/>
        </p:nvSpPr>
        <p:spPr>
          <a:xfrm>
            <a:off x="658368" y="1143000"/>
            <a:ext cx="57607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AgroMarket</a:t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13232" y="28803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Una API para acercar productos frescos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a consumidores urbanos.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13232" y="541324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Jorge Bolivar · Bryan Pacheco · Lizeth  Bedoya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713232" y="574243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Agosto 2026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13232" y="4892040"/>
            <a:ext cx="109728" cy="109728"/>
          </a:xfrm>
          <a:prstGeom prst="ellipse">
            <a:avLst/>
          </a:prstGeom>
          <a:solidFill>
            <a:srgbClr val="4F8A5B"/>
          </a:solidFill>
          <a:ln cap="flat" cmpd="sng" w="12700">
            <a:solidFill>
              <a:srgbClr val="4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941832" y="4892040"/>
            <a:ext cx="109728" cy="109728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170432" y="4892040"/>
            <a:ext cx="109728" cy="109728"/>
          </a:xfrm>
          <a:prstGeom prst="ellipse">
            <a:avLst/>
          </a:prstGeom>
          <a:solidFill>
            <a:srgbClr val="D97855"/>
          </a:solidFill>
          <a:ln cap="flat" cmpd="sng" w="12700">
            <a:solidFill>
              <a:srgbClr val="D97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8640" y="3474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EL RETO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48640" y="621792"/>
            <a:ext cx="10607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Vender localmente no debería depender de intermediarios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155680" y="3474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94350" y="1417331"/>
            <a:ext cx="5577900" cy="21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Los agricultores locales pierden margen y visibilidad, mientras el consumidor urbano paga más y tiene menos contexto sobre el origen de lo que compra.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629400" y="1325880"/>
            <a:ext cx="4846320" cy="4160520"/>
          </a:xfrm>
          <a:prstGeom prst="roundRect">
            <a:avLst>
              <a:gd fmla="val 2637" name="adj"/>
            </a:avLst>
          </a:prstGeom>
          <a:solidFill>
            <a:srgbClr val="EEF5EA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7040880" y="16916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EL CONTEXTO REAL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086600" y="23317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726680" y="233172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Agricultor publica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productos y stock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7086600" y="32461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7726680" y="324612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Consumidor descubre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y crea su pedido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7086600" y="41605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7726680" y="416052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Reseñas e IA mejoran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la decisión de compra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85800" y="4846320"/>
            <a:ext cx="5212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La oportunidad: conectar oferta local y demanda urbana en un solo flujo digital.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/>
          <p:nvPr/>
        </p:nvSpPr>
        <p:spPr>
          <a:xfrm>
            <a:off x="548640" y="3474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LA SOLUCIÓN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548640" y="621792"/>
            <a:ext cx="10607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Una API REST convierte el catálogo local en un marketplace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1155680" y="3474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731520" y="1874520"/>
            <a:ext cx="178308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96112" y="208483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Cliente HTTP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Swagger / Postman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2606040" y="2176272"/>
            <a:ext cx="320040" cy="320040"/>
          </a:xfrm>
          <a:prstGeom prst="chevron">
            <a:avLst>
              <a:gd fmla="val 50000" name="adj"/>
            </a:avLst>
          </a:prstGeom>
          <a:solidFill>
            <a:srgbClr val="D97855"/>
          </a:solidFill>
          <a:ln cap="flat" cmpd="sng" w="12700">
            <a:solidFill>
              <a:srgbClr val="D97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3063240" y="1874520"/>
            <a:ext cx="1783080" cy="960120"/>
          </a:xfrm>
          <a:prstGeom prst="roundRect">
            <a:avLst>
              <a:gd fmla="val 11429" name="adj"/>
            </a:avLst>
          </a:prstGeom>
          <a:solidFill>
            <a:srgbClr val="DDEBD6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3227832" y="208483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ASP.NET Core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Web API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937760" y="2176272"/>
            <a:ext cx="320040" cy="320040"/>
          </a:xfrm>
          <a:prstGeom prst="chevron">
            <a:avLst>
              <a:gd fmla="val 50000" name="adj"/>
            </a:avLst>
          </a:prstGeom>
          <a:solidFill>
            <a:srgbClr val="D97855"/>
          </a:solidFill>
          <a:ln cap="flat" cmpd="sng" w="12700">
            <a:solidFill>
              <a:srgbClr val="D97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5394960" y="1874520"/>
            <a:ext cx="178308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5559552" y="208483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EF Core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Persistencia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7269480" y="2176272"/>
            <a:ext cx="320040" cy="320040"/>
          </a:xfrm>
          <a:prstGeom prst="chevron">
            <a:avLst>
              <a:gd fmla="val 50000" name="adj"/>
            </a:avLst>
          </a:prstGeom>
          <a:solidFill>
            <a:srgbClr val="D97855"/>
          </a:solidFill>
          <a:ln cap="flat" cmpd="sng" w="12700">
            <a:solidFill>
              <a:srgbClr val="D97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7726680" y="1874520"/>
            <a:ext cx="178308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7891272" y="208483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794760" y="3977640"/>
            <a:ext cx="4114800" cy="1005840"/>
          </a:xfrm>
          <a:prstGeom prst="roundRect">
            <a:avLst>
              <a:gd fmla="val 16667" name="adj"/>
            </a:avLst>
          </a:prstGeom>
          <a:solidFill>
            <a:srgbClr val="FFF4DB"/>
          </a:solidFill>
          <a:ln cap="flat" cmpd="sng" w="12700">
            <a:solidFill>
              <a:srgbClr val="F0D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4041648" y="43159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Servicio IA Groq · Llama 3.3 70B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188720" y="5577840"/>
            <a:ext cx="9418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Dominios cubiertos: agricultores · productos · órdenes · reseñas · recomendaciones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/>
          <p:nvPr/>
        </p:nvSpPr>
        <p:spPr>
          <a:xfrm>
            <a:off x="548640" y="3474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LA BASE TÉCNICA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48640" y="621792"/>
            <a:ext cx="10607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2800"/>
              <a:buFont typeface="Arial"/>
              <a:buNone/>
            </a:pPr>
            <a:r>
              <a:rPr b="1" i="0" lang="en-US" sz="25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Tecnologías elegidas para construir, documentar y evolucionar la API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1155680" y="3474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7"/>
          <p:cNvCxnSpPr/>
          <p:nvPr/>
        </p:nvCxnSpPr>
        <p:spPr>
          <a:xfrm>
            <a:off x="685800" y="1892808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7"/>
          <p:cNvSpPr/>
          <p:nvPr/>
        </p:nvSpPr>
        <p:spPr>
          <a:xfrm>
            <a:off x="713232" y="143560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1325880" y="1380744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.NET 8 / ASP.NET Core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5897880" y="1399032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API backend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7"/>
          <p:cNvCxnSpPr/>
          <p:nvPr/>
        </p:nvCxnSpPr>
        <p:spPr>
          <a:xfrm>
            <a:off x="685800" y="2606040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7"/>
          <p:cNvSpPr/>
          <p:nvPr/>
        </p:nvSpPr>
        <p:spPr>
          <a:xfrm>
            <a:off x="713232" y="214884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325880" y="209397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Entity Framework Core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897880" y="211226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Acceso y mapeo de datos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7"/>
          <p:cNvCxnSpPr/>
          <p:nvPr/>
        </p:nvCxnSpPr>
        <p:spPr>
          <a:xfrm>
            <a:off x="685800" y="3319272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7"/>
          <p:cNvSpPr/>
          <p:nvPr/>
        </p:nvSpPr>
        <p:spPr>
          <a:xfrm>
            <a:off x="713232" y="28620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325880" y="280720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PostgreSQL + Npgsql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897880" y="2825496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Base de datos actual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7"/>
          <p:cNvCxnSpPr/>
          <p:nvPr/>
        </p:nvCxnSpPr>
        <p:spPr>
          <a:xfrm>
            <a:off x="685800" y="4032504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7"/>
          <p:cNvSpPr/>
          <p:nvPr/>
        </p:nvSpPr>
        <p:spPr>
          <a:xfrm>
            <a:off x="713232" y="357530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325880" y="35204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Swagger / OpenAPI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897880" y="3538728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Documentación y pruebas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7"/>
          <p:cNvCxnSpPr/>
          <p:nvPr/>
        </p:nvCxnSpPr>
        <p:spPr>
          <a:xfrm>
            <a:off x="685800" y="4745736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7"/>
          <p:cNvSpPr/>
          <p:nvPr/>
        </p:nvSpPr>
        <p:spPr>
          <a:xfrm>
            <a:off x="713232" y="4288536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325880" y="42336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Groq API + Llama 3.3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897880" y="4251960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Recomendaciones con IA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7"/>
          <p:cNvCxnSpPr/>
          <p:nvPr/>
        </p:nvCxnSpPr>
        <p:spPr>
          <a:xfrm>
            <a:off x="685800" y="5458968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7"/>
          <p:cNvSpPr/>
          <p:nvPr/>
        </p:nvSpPr>
        <p:spPr>
          <a:xfrm>
            <a:off x="713232" y="500176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325880" y="494690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Git + GitHub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897880" y="4965192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Versionado y entrega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731520" y="577900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Nota de configuración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331720" y="57607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La versión actual utiliza PostgreSQL mediante Npgsql; SQLite fue parte de una etapa anterior.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/>
          <p:nvPr/>
        </p:nvSpPr>
        <p:spPr>
          <a:xfrm>
            <a:off x="548640" y="3474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EL MODELO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48640" y="621792"/>
            <a:ext cx="10607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El modelo de datos sigue el recorrido de una compra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11155680" y="3474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8"/>
          <p:cNvCxnSpPr/>
          <p:nvPr/>
        </p:nvCxnSpPr>
        <p:spPr>
          <a:xfrm>
            <a:off x="1600200" y="1737360"/>
            <a:ext cx="2286000" cy="0"/>
          </a:xfrm>
          <a:prstGeom prst="straightConnector1">
            <a:avLst/>
          </a:prstGeom>
          <a:noFill/>
          <a:ln cap="flat" cmpd="sng" w="19050">
            <a:solidFill>
              <a:srgbClr val="4F8A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" name="Google Shape;116;p8"/>
          <p:cNvCxnSpPr/>
          <p:nvPr/>
        </p:nvCxnSpPr>
        <p:spPr>
          <a:xfrm>
            <a:off x="4572000" y="1737360"/>
            <a:ext cx="2331720" cy="0"/>
          </a:xfrm>
          <a:prstGeom prst="straightConnector1">
            <a:avLst/>
          </a:prstGeom>
          <a:noFill/>
          <a:ln cap="flat" cmpd="sng" w="19050">
            <a:solidFill>
              <a:srgbClr val="4F8A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" name="Google Shape;117;p8"/>
          <p:cNvCxnSpPr/>
          <p:nvPr/>
        </p:nvCxnSpPr>
        <p:spPr>
          <a:xfrm>
            <a:off x="7635240" y="2377440"/>
            <a:ext cx="0" cy="1463040"/>
          </a:xfrm>
          <a:prstGeom prst="straightConnector1">
            <a:avLst/>
          </a:prstGeom>
          <a:noFill/>
          <a:ln cap="flat" cmpd="sng" w="19050">
            <a:solidFill>
              <a:srgbClr val="4F8A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" name="Google Shape;118;p8"/>
          <p:cNvCxnSpPr/>
          <p:nvPr/>
        </p:nvCxnSpPr>
        <p:spPr>
          <a:xfrm>
            <a:off x="4572000" y="2377440"/>
            <a:ext cx="0" cy="1463040"/>
          </a:xfrm>
          <a:prstGeom prst="straightConnector1">
            <a:avLst/>
          </a:prstGeom>
          <a:noFill/>
          <a:ln cap="flat" cmpd="sng" w="19050">
            <a:solidFill>
              <a:srgbClr val="4F8A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" name="Google Shape;119;p8"/>
          <p:cNvCxnSpPr/>
          <p:nvPr/>
        </p:nvCxnSpPr>
        <p:spPr>
          <a:xfrm>
            <a:off x="1920240" y="2377440"/>
            <a:ext cx="0" cy="1463040"/>
          </a:xfrm>
          <a:prstGeom prst="straightConnector1">
            <a:avLst/>
          </a:prstGeom>
          <a:noFill/>
          <a:ln cap="flat" cmpd="sng" w="19050">
            <a:solidFill>
              <a:srgbClr val="4F8A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8"/>
          <p:cNvSpPr/>
          <p:nvPr/>
        </p:nvSpPr>
        <p:spPr>
          <a:xfrm>
            <a:off x="914400" y="1417320"/>
            <a:ext cx="1783080" cy="914400"/>
          </a:xfrm>
          <a:prstGeom prst="roundRect">
            <a:avLst>
              <a:gd fmla="val 12000" name="adj"/>
            </a:avLst>
          </a:prstGeom>
          <a:solidFill>
            <a:srgbClr val="DDEBD6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1024128" y="172821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farmer_profiles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3886200" y="1417320"/>
            <a:ext cx="178308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3995928" y="172821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products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903720" y="1417320"/>
            <a:ext cx="178308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7013448" y="172821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orders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903720" y="3840480"/>
            <a:ext cx="1783080" cy="914400"/>
          </a:xfrm>
          <a:prstGeom prst="roundRect">
            <a:avLst>
              <a:gd fmla="val 12000" name="adj"/>
            </a:avLst>
          </a:prstGeom>
          <a:solidFill>
            <a:srgbClr val="EEF5EA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7013448" y="415137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order_items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3886200" y="3840480"/>
            <a:ext cx="178308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3995928" y="415137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914400" y="3840480"/>
            <a:ext cx="1783080" cy="914400"/>
          </a:xfrm>
          <a:prstGeom prst="roundRect">
            <a:avLst>
              <a:gd fmla="val 12000" name="adj"/>
            </a:avLst>
          </a:prstGeom>
          <a:solidFill>
            <a:srgbClr val="FFF4DB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1024128" y="415137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ai_conversations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822960" y="534924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Agricultor </a:t>
            </a:r>
            <a:r>
              <a:rPr lang="en-US" sz="1600">
                <a:solidFill>
                  <a:srgbClr val="617266"/>
                </a:solidFill>
              </a:rPr>
              <a:t>pública</a:t>
            </a:r>
            <a:r>
              <a:rPr b="0" i="0" lang="en-US" sz="16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 productos; las órdenes contienen ítems; los productos reciben reseñas; la IA conserva el contexto de conversación.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374015" y="173697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LA API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374015" y="512067"/>
            <a:ext cx="10607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Los endpoints reflejan los dominios principales del negocio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11155680" y="3474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731520" y="126187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828800" y="1261872"/>
            <a:ext cx="5394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RUTA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7955280" y="1261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FUNCIÓN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9"/>
          <p:cNvCxnSpPr/>
          <p:nvPr/>
        </p:nvCxnSpPr>
        <p:spPr>
          <a:xfrm>
            <a:off x="685800" y="2039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9"/>
          <p:cNvSpPr/>
          <p:nvPr/>
        </p:nvSpPr>
        <p:spPr>
          <a:xfrm>
            <a:off x="731520" y="162763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828800" y="1627632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/api/products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7955280" y="16276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Catálogo activo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9"/>
          <p:cNvCxnSpPr/>
          <p:nvPr/>
        </p:nvCxnSpPr>
        <p:spPr>
          <a:xfrm>
            <a:off x="685800" y="260604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9"/>
          <p:cNvSpPr/>
          <p:nvPr/>
        </p:nvSpPr>
        <p:spPr>
          <a:xfrm>
            <a:off x="731520" y="219456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828800" y="2194560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/api/products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7955280" y="21945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Publicar producto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9"/>
          <p:cNvCxnSpPr/>
          <p:nvPr/>
        </p:nvCxnSpPr>
        <p:spPr>
          <a:xfrm>
            <a:off x="685800" y="3172968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9"/>
          <p:cNvSpPr/>
          <p:nvPr/>
        </p:nvSpPr>
        <p:spPr>
          <a:xfrm>
            <a:off x="731520" y="276148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828800" y="2761488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/api/orders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7955280" y="27614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Crear orden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9"/>
          <p:cNvCxnSpPr/>
          <p:nvPr/>
        </p:nvCxnSpPr>
        <p:spPr>
          <a:xfrm>
            <a:off x="685800" y="3739896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9"/>
          <p:cNvSpPr/>
          <p:nvPr/>
        </p:nvSpPr>
        <p:spPr>
          <a:xfrm>
            <a:off x="731520" y="3328416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PATCH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828800" y="3328416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/api/orders/{id}/status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7955280" y="332841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Cambiar estado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9"/>
          <p:cNvCxnSpPr/>
          <p:nvPr/>
        </p:nvCxnSpPr>
        <p:spPr>
          <a:xfrm>
            <a:off x="685800" y="4306824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9"/>
          <p:cNvSpPr/>
          <p:nvPr/>
        </p:nvSpPr>
        <p:spPr>
          <a:xfrm>
            <a:off x="731520" y="3895344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828800" y="3895344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/api/ai/recommendations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7955280" y="389534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675120" y="4983480"/>
            <a:ext cx="4663440" cy="731520"/>
          </a:xfrm>
          <a:prstGeom prst="roundRect">
            <a:avLst>
              <a:gd fmla="val 16667" name="adj"/>
            </a:avLst>
          </a:prstGeom>
          <a:solidFill>
            <a:srgbClr val="20392B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6967728" y="519379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{ "id": 1, "name": "Mango Tommy",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  "stockQuantity": 98, "isOrganic": true }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548640" y="3474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LA DEMO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48640" y="621792"/>
            <a:ext cx="10607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Swagger UI hace visible el ciclo completo de la API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11155680" y="3474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7543800" y="1417320"/>
            <a:ext cx="3886200" cy="4343400"/>
          </a:xfrm>
          <a:prstGeom prst="roundRect">
            <a:avLst>
              <a:gd fmla="val 2824" name="adj"/>
            </a:avLst>
          </a:prstGeom>
          <a:solidFill>
            <a:srgbClr val="DDEBD6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7909560" y="178308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EN VIVO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7955280" y="2560320"/>
            <a:ext cx="146304" cy="146304"/>
          </a:xfrm>
          <a:prstGeom prst="ellipse">
            <a:avLst/>
          </a:prstGeom>
          <a:solidFill>
            <a:srgbClr val="4F8A5B"/>
          </a:solidFill>
          <a:ln cap="flat" cmpd="sng" w="12700">
            <a:solidFill>
              <a:srgbClr val="4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8275320" y="24871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1 · Explorar Swagger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7955280" y="3182112"/>
            <a:ext cx="146304" cy="146304"/>
          </a:xfrm>
          <a:prstGeom prst="ellipse">
            <a:avLst/>
          </a:prstGeom>
          <a:solidFill>
            <a:srgbClr val="4F8A5B"/>
          </a:solidFill>
          <a:ln cap="flat" cmpd="sng" w="12700">
            <a:solidFill>
              <a:srgbClr val="4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8275320" y="31089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2 · Ejecutar CRUD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7955280" y="3803904"/>
            <a:ext cx="146304" cy="146304"/>
          </a:xfrm>
          <a:prstGeom prst="ellipse">
            <a:avLst/>
          </a:prstGeom>
          <a:solidFill>
            <a:srgbClr val="4F8A5B"/>
          </a:solidFill>
          <a:ln cap="flat" cmpd="sng" w="12700">
            <a:solidFill>
              <a:srgbClr val="4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8275320" y="373075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3 · Leer JSON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7955280" y="4425696"/>
            <a:ext cx="146304" cy="146304"/>
          </a:xfrm>
          <a:prstGeom prst="ellipse">
            <a:avLst/>
          </a:prstGeom>
          <a:solidFill>
            <a:srgbClr val="D97855"/>
          </a:solidFill>
          <a:ln cap="flat" cmpd="sng" w="12700">
            <a:solidFill>
              <a:srgbClr val="D97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8275320" y="435254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4 · Forzar un error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273050" y="1369705"/>
            <a:ext cx="7041000" cy="4709100"/>
          </a:xfrm>
          <a:prstGeom prst="roundRect">
            <a:avLst>
              <a:gd fmla="val 2330" name="adj"/>
            </a:avLst>
          </a:prstGeom>
          <a:solidFill>
            <a:srgbClr val="FFFFFF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workspace/scratch/b9f1c376a27e/upload/TC-01.png"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930" y="1616593"/>
            <a:ext cx="3246119" cy="4160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workspace/scratch/b9f1c376a27e/upload/TC-03.png" id="186" name="Google Shape;18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2090" y="1616593"/>
            <a:ext cx="3063240" cy="4160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411465" y="137147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CÓDIGO DESTACADO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548640" y="621792"/>
            <a:ext cx="10607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La estructura separa responsabilidades y facilita probar cada pieza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1155680" y="3474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85800" y="1417320"/>
            <a:ext cx="3108960" cy="4389120"/>
          </a:xfrm>
          <a:prstGeom prst="roundRect">
            <a:avLst>
              <a:gd fmla="val 16667" name="adj"/>
            </a:avLst>
          </a:prstGeom>
          <a:solidFill>
            <a:srgbClr val="20392B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1024125" y="1524000"/>
            <a:ext cx="2286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MarketPlace/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Controllers/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ProductsController.cs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OrdersController.cs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FarmerProfilesController.cs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AiController.cs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Data/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AppDbContext.cs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Models/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Product.cs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Order.cs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FarmerProfile.cs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Review.cs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...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services/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GroqService .cs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interfaces/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IGroqService.cs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Program.cs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appsettings.json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QA_TestCases.md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QA_InformeEjecucion.md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1900"/>
              <a:buFont typeface="Courier New"/>
              <a:buNone/>
            </a:pPr>
            <a:r>
              <a:rPr b="1" lang="en-US" sz="1100">
                <a:solidFill>
                  <a:srgbClr val="F7F3E8"/>
                </a:solidFill>
                <a:latin typeface="Courier New"/>
                <a:ea typeface="Courier New"/>
                <a:cs typeface="Courier New"/>
                <a:sym typeface="Courier New"/>
              </a:rPr>
              <a:t>└── QA_Capturas/</a:t>
            </a:r>
            <a:endParaRPr b="1" sz="1100">
              <a:solidFill>
                <a:srgbClr val="F7F3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160520" y="1417320"/>
            <a:ext cx="7269480" cy="4389120"/>
          </a:xfrm>
          <a:prstGeom prst="roundRect">
            <a:avLst>
              <a:gd fmla="val 2500" name="adj"/>
            </a:avLst>
          </a:prstGeom>
          <a:solidFill>
            <a:srgbClr val="FFFDF7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4526280" y="171907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D97855"/>
                </a:solidFill>
                <a:latin typeface="Courier New"/>
                <a:ea typeface="Courier New"/>
                <a:cs typeface="Courier New"/>
                <a:sym typeface="Courier New"/>
              </a:rPr>
              <a:t>AppDbContext.cs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526280" y="2240280"/>
            <a:ext cx="62179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AppDbContext : DbContext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  public DbSet&lt;Product&gt; Products { get; set; }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  public DbSet&lt;Order&gt; Orders { get; set; }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  protected override void OnModelCreating(...)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    // relaciones y reglas de persistencia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20392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/>
          <p:nvPr/>
        </p:nvSpPr>
        <p:spPr>
          <a:xfrm>
            <a:off x="301740" y="91422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APRENDIZAJES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548640" y="621792"/>
            <a:ext cx="10607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El proyecto convirtió conceptos aislados en un flujo de producto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1155680" y="3474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F8A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F8A5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731520" y="1463040"/>
            <a:ext cx="3154680" cy="20574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987552" y="17830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Jorge Bolivar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987552" y="2487168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987552" y="285292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Diseño de endpoints y persistencia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4434840" y="1463040"/>
            <a:ext cx="3154680" cy="2057400"/>
          </a:xfrm>
          <a:prstGeom prst="roundRect">
            <a:avLst>
              <a:gd fmla="val 5333" name="adj"/>
            </a:avLst>
          </a:prstGeom>
          <a:solidFill>
            <a:srgbClr val="DDEBD6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4690872" y="17830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Bryan Pacheco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4690872" y="2487168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BACKEND IA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4690872" y="285292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Integración de Groq y prompts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8138160" y="1463040"/>
            <a:ext cx="3154680" cy="20574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8394192" y="17830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Lizeth Bedoya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8394192" y="2487168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8394192" y="285292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2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266"/>
                </a:solidFill>
                <a:latin typeface="Arial"/>
                <a:ea typeface="Arial"/>
                <a:cs typeface="Arial"/>
                <a:sym typeface="Arial"/>
              </a:rPr>
              <a:t>Casos, evidencias y validación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777240" y="41605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Mayor desafío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777240" y="44805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Alinear datos, reglas de negocio, errores y respuestas entre varios dominios.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492240" y="41605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5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97855"/>
                </a:solidFill>
                <a:latin typeface="Arial"/>
                <a:ea typeface="Arial"/>
                <a:cs typeface="Arial"/>
                <a:sym typeface="Arial"/>
              </a:rPr>
              <a:t>Siguiente mejora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6492240" y="448056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Evolucionar autenticación, pagos, despliegue y observabilidad.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F8A5B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/>
          <p:nvPr/>
        </p:nvSpPr>
        <p:spPr>
          <a:xfrm rot="600000">
            <a:off x="8046720" y="-548640"/>
            <a:ext cx="4754880" cy="47548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7EAE78">
              <a:alpha val="74902"/>
            </a:srgbClr>
          </a:solidFill>
          <a:ln cap="flat" cmpd="sng" w="12700">
            <a:solidFill>
              <a:srgbClr val="7EAE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685800" y="1234440"/>
            <a:ext cx="6766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7F3E8"/>
                </a:solidFill>
                <a:latin typeface="Arial"/>
                <a:ea typeface="Arial"/>
                <a:cs typeface="Arial"/>
                <a:sym typeface="Arial"/>
              </a:rPr>
              <a:t>Gracias por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8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7F3E8"/>
                </a:solidFill>
                <a:latin typeface="Arial"/>
                <a:ea typeface="Arial"/>
                <a:cs typeface="Arial"/>
                <a:sym typeface="Arial"/>
              </a:rPr>
              <a:t>acompañar el recorrido.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731520" y="283464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E5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AF3E5"/>
                </a:solidFill>
                <a:latin typeface="Arial"/>
                <a:ea typeface="Arial"/>
                <a:cs typeface="Arial"/>
                <a:sym typeface="Arial"/>
              </a:rPr>
              <a:t>AgroMarket Local conecta origen, confianza y tecnología.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731525" y="3977650"/>
            <a:ext cx="8740500" cy="2001900"/>
          </a:xfrm>
          <a:prstGeom prst="roundRect">
            <a:avLst>
              <a:gd fmla="val 16667" name="adj"/>
            </a:avLst>
          </a:prstGeom>
          <a:solidFill>
            <a:srgbClr val="EAF3E5"/>
          </a:solidFill>
          <a:ln cap="flat" cmpd="sng" w="12700">
            <a:solidFill>
              <a:srgbClr val="C9D8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1024125" y="4224525"/>
            <a:ext cx="84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Repositorio GitHub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0392B"/>
                </a:solidFill>
              </a:rPr>
              <a:t>https://github.com/jbolivarz94/Diplomano.NET/tree/main/retos/proyecto-final/MarketPlace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1024128" y="503317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0392B"/>
                </a:solidFill>
              </a:rPr>
              <a:t>Enlace video Demo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92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392B"/>
                </a:solidFill>
                <a:latin typeface="Arial"/>
                <a:ea typeface="Arial"/>
                <a:cs typeface="Arial"/>
                <a:sym typeface="Arial"/>
              </a:rPr>
              <a:t>[enlace por agregar]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